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0000001-0000-4000-8000-000000000001}">
          <p14:sldIdLst>
            <p14:sldId id="256"/>
            <p14:sldId id="257"/>
            <p14:sldId id="258"/>
          </p14:sldIdLst>
        </p14:section>
        <p14:section name="Financials" id="{00000002-0000-4000-8000-000000000002}">
          <p14:sldIdLst>
            <p14:sldId id="259"/>
            <p14:sldId id="260"/>
          </p14:sldIdLst>
        </p14:section>
        <p14:section name="Closing" id="{00000003-0000-4000-8000-000000000003}">
          <p14:sldIdLst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Acme Corp - FY2026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351</c:v>
                </c:pt>
                <c:pt idx="2">
                  <c:v>372</c:v>
                </c:pt>
                <c:pt idx="3">
                  <c:v>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228</c:v>
                </c:pt>
                <c:pt idx="2">
                  <c:v>241</c:v>
                </c:pt>
                <c:pt idx="3">
                  <c:v>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175</c:v>
                </c:pt>
                <c:pt idx="1">
                  <c:v>168</c:v>
                </c:pt>
                <c:pt idx="2">
                  <c:v>199</c:v>
                </c:pt>
                <c:pt idx="3">
                  <c:v>232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F3864"/>
                </a:solidFill>
              </a:rPr>
              <a:t>Acme Corp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2E8B8B"/>
                </a:solidFill>
              </a:rPr>
              <a:t>FY2026 - Performance, Outlook &amp; Initiatives</a:t>
            </a:r>
          </a:p>
        </p:txBody>
      </p:sp>
      <p:pic>
        <p:nvPicPr>
          <p:cNvPr id="4" name="Picture 3" descr="acme_complex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F3864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F3864"/>
                </a:solidFill>
              </a:rPr>
              <a:t>1. Overview</a:t>
            </a:r>
          </a:p>
          <a:p>
            <a:pPr/>
            <a:r>
              <a:rPr sz="2000">
                <a:solidFill>
                  <a:srgbClr val="1F3864"/>
                </a:solidFill>
              </a:rPr>
              <a:t>2. Financials</a:t>
            </a:r>
          </a:p>
          <a:p>
            <a:pPr/>
            <a:r>
              <a:rPr sz="2000">
                <a:solidFill>
                  <a:srgbClr val="1F3864"/>
                </a:solidFill>
              </a:rPr>
              <a:t>3.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3864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F3864"/>
                </a:solidFill>
              </a:rPr>
              <a:t>Acme Corp grew net revenue 18% YoY across all four regions.</a:t>
            </a:r>
          </a:p>
          <a:p>
            <a:pPr/>
            <a:r>
              <a:rPr sz="1800">
                <a:solidFill>
                  <a:srgbClr val="1F3864"/>
                </a:solidFill>
              </a:rPr>
              <a:t>Gross margin expanded 230 bps on supply-chain efficiencies.</a:t>
            </a:r>
          </a:p>
          <a:p>
            <a:pPr lvl="1"/>
            <a:r>
              <a:rPr sz="1800">
                <a:solidFill>
                  <a:srgbClr val="1F3864"/>
                </a:solidFill>
              </a:rPr>
              <a:t>North region led growth; East rebounded after Q1 softness.</a:t>
            </a:r>
          </a:p>
          <a:p>
            <a:pPr/>
            <a:r>
              <a:rPr sz="1800">
                <a:solidFill>
                  <a:srgbClr val="1F3864"/>
                </a:solidFill>
              </a:rPr>
              <a:t>FY2026 outlook raised on a stronger services pipeline.</a:t>
            </a:r>
          </a:p>
          <a:p>
            <a:pPr lvl="1"/>
            <a:r>
              <a:rPr sz="1800">
                <a:solidFill>
                  <a:srgbClr val="1F3864"/>
                </a:solidFill>
              </a:rPr>
              <a:t>Key risk: input-cost volatility in the Gadget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Regional Revenue (USD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400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North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351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372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410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East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168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EAF0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705</a:t>
                      </a:r>
                    </a:p>
                  </a:txBody>
                  <a:tcPr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812</a:t>
                      </a:r>
                    </a:p>
                  </a:txBody>
                  <a:tcPr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907</a:t>
                      </a:r>
                    </a:p>
                  </a:txBody>
                  <a:tcPr>
                    <a:solidFill>
                      <a:srgbClr val="2E8B8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Quarterly Net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The Acme Brand Mark</a:t>
            </a:r>
          </a:p>
        </p:txBody>
      </p:sp>
      <p:pic>
        <p:nvPicPr>
          <p:cNvPr id="3" name="Picture Placeholder 2" descr="acme_complex_mar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2222" r="2222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rPr sz="1600">
                <a:solidFill>
                  <a:srgbClr val="1F3864"/>
                </a:solidFill>
              </a:rPr>
              <a:t>A synthetic, generated mark - no proprietary asset.</a:t>
            </a:r>
          </a:p>
          <a:p>
            <a:pPr/>
            <a:r>
              <a:rPr sz="1600">
                <a:solidFill>
                  <a:srgbClr val="1F3864"/>
                </a:solidFill>
              </a:rPr>
              <a:t>Navy field, amber stripe, teal corner.</a:t>
            </a:r>
          </a:p>
        </p:txBody>
      </p:sp>
      <p:pic>
        <p:nvPicPr>
          <p:cNvPr id="5" name="Picture 4" descr="acme_complex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1945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3864"/>
                </a:solidFill>
              </a:rPr>
              <a:t>Our Approach (SmartArt-style 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43200"/>
            <a:ext cx="2286000" cy="1143000"/>
          </a:xfrm>
          <a:prstGeom prst="roundRect">
            <a:avLst/>
          </a:prstGeom>
          <a:solidFill>
            <a:srgbClr val="1F3864"/>
          </a:solidFill>
          <a:ln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43200"/>
            <a:ext cx="2286000" cy="1143000"/>
          </a:xfrm>
          <a:prstGeom prst="roundRect">
            <a:avLst/>
          </a:prstGeom>
          <a:solidFill>
            <a:srgbClr val="2E8B8B"/>
          </a:solidFill>
          <a:ln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3314700"/>
            <a:ext cx="457200" cy="0"/>
          </a:xfrm>
          <a:prstGeom prst="line">
            <a:avLst/>
          </a:prstGeom>
          <a:ln w="31750">
            <a:solidFill>
              <a:srgbClr val="55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72200" y="2743200"/>
            <a:ext cx="2286000" cy="1143000"/>
          </a:xfrm>
          <a:prstGeom prst="roundRect">
            <a:avLst/>
          </a:prstGeom>
          <a:solidFill>
            <a:srgbClr val="E8A33D"/>
          </a:solidFill>
          <a:ln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3314700"/>
            <a:ext cx="457200" cy="0"/>
          </a:xfrm>
          <a:prstGeom prst="line">
            <a:avLst/>
          </a:prstGeom>
          <a:ln w="31750">
            <a:solidFill>
              <a:srgbClr val="55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F3864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F3864"/>
                </a:solidFill>
              </a:rPr>
              <a:t>Questions? hello@acme.example</a:t>
            </a:r>
          </a:p>
          <a:p>
            <a:pPr/>
            <a:r>
              <a:rPr sz="1800">
                <a:solidFill>
                  <a:srgbClr val="1F3864"/>
                </a:solidFill>
              </a:rPr>
              <a:t>Acme Corp - synthetic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Quarterly Business Review</dc:title>
  <dc:subject>Synthetic test fixture - no proprietary content</dc:subject>
  <dc:creator>Acme Corp (synthetic fixture)</dc:creator>
  <cp:keywords/>
  <dc:description>generated using python-pptx</dc:description>
  <cp:lastModifiedBy>Acme Corp (synthetic fixture)</cp:lastModifiedBy>
  <cp:revision>1</cp:revision>
  <dcterms:created xsi:type="dcterms:W3CDTF">2026-01-15T00:00:00Z</dcterms:created>
  <dcterms:modified xsi:type="dcterms:W3CDTF">2026-01-15T00:00:00Z</dcterms:modified>
  <cp:category/>
</cp:coreProperties>
</file>