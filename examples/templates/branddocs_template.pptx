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0000001-0000-4000-8000-000000000001}">
          <p14:sldIdLst>
            <p14:sldId id="256"/>
            <p14:sldId id="257"/>
            <p14:sldId id="258"/>
            <p14:sldId id="259"/>
          </p14:sldIdLst>
        </p14:section>
        <p14:section name="Financials" id="{00000002-0000-4000-8000-000000000002}">
          <p14:sldIdLst>
            <p14:sldId id="260"/>
            <p14:sldId id="261"/>
            <p14:sldId id="262"/>
          </p14:sldIdLst>
        </p14:section>
        <p14:section name="Closing" id="{00000003-0000-4000-8000-000000000003}">
          <p14:sldIdLst>
            <p14:sldId id="263"/>
            <p14:sldId id="264"/>
            <p14:sldId id="265"/>
            <p14:sldId id="2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Health and adoption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Brand health</c:v>
                </c:pt>
              </c:strCache>
            </c:strRef>
          </c:tx>
          <c:spPr>
            <a:ln w="28575">
              <a:solidFill>
                <a:srgbClr val="2B7CD3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78</c:v>
                </c:pt>
                <c:pt idx="2">
                  <c:v>81</c:v>
                </c:pt>
                <c:pt idx="3">
                  <c:v>84</c:v>
                </c:pt>
                <c:pt idx="4">
                  <c:v>88</c:v>
                </c:pt>
                <c:pt idx="5">
                  <c:v>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Adoption</c:v>
                </c:pt>
              </c:strCache>
            </c:strRef>
          </c:tx>
          <c:spPr>
            <a:ln w="28575">
              <a:solidFill>
                <a:srgbClr val="E0742B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66</c:v>
                </c:pt>
                <c:pt idx="2">
                  <c:v>70</c:v>
                </c:pt>
                <c:pt idx="3">
                  <c:v>76</c:v>
                </c:pt>
                <c:pt idx="4">
                  <c:v>81</c:v>
                </c:pt>
                <c:pt idx="5">
                  <c:v>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>
                <a:solidFill>
                  <a:srgbClr val="16213F"/>
                </a:solidFill>
              </a:defRPr>
            </a:pPr>
            <a:r>
              <a:t>BrandDocs Corp - FY2026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6213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351</c:v>
                </c:pt>
                <c:pt idx="2">
                  <c:v>372</c:v>
                </c:pt>
                <c:pt idx="3">
                  <c:v>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2B7C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210</c:v>
                </c:pt>
                <c:pt idx="1">
                  <c:v>228</c:v>
                </c:pt>
                <c:pt idx="2">
                  <c:v>241</c:v>
                </c:pt>
                <c:pt idx="3">
                  <c:v>265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E0742B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175</c:v>
                </c:pt>
                <c:pt idx="1">
                  <c:v>168</c:v>
                </c:pt>
                <c:pt idx="2">
                  <c:v>199</c:v>
                </c:pt>
                <c:pt idx="3">
                  <c:v>232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AF1F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lead with the 18% YoY headline, then the 230 bps margin expansion. Pause on the input-cost risk before the regional breakdown.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685800" y="3200400"/>
            <a:ext cx="2286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37960" y="0"/>
            <a:ext cx="91440" cy="685800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29400" y="0"/>
            <a:ext cx="2514600" cy="68580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"/>
            <a:ext cx="9144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" y="2057400"/>
            <a:ext cx="5943600" cy="0"/>
          </a:xfrm>
        </p:spPr>
        <p:txBody>
          <a:bodyPr/>
          <a:lstStyle/>
          <a:p>
            <a:r>
              <a:rPr sz="4000" b="1">
                <a:solidFill>
                  <a:srgbClr val="16213F"/>
                </a:solidFill>
              </a:rPr>
              <a:t>BrandDocs Corp 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429000"/>
            <a:ext cx="5486400" cy="0"/>
          </a:xfrm>
        </p:spPr>
        <p:txBody>
          <a:bodyPr/>
          <a:lstStyle/>
          <a:p>
            <a:r>
              <a:rPr sz="2000">
                <a:solidFill>
                  <a:srgbClr val="2B7CD3"/>
                </a:solidFill>
              </a:rPr>
              <a:t>FY2026 - Performance, Outlook &amp; Initiatives</a:t>
            </a:r>
          </a:p>
        </p:txBody>
      </p:sp>
      <p:pic>
        <p:nvPicPr>
          <p:cNvPr id="9" name="Picture 8" descr="branddocs_template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645920" cy="411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1371600"/>
            <a:ext cx="1943100" cy="823000"/>
          </a:xfrm>
          <a:prstGeom prst="roundRect">
            <a:avLst/>
          </a:prstGeom>
          <a:solidFill>
            <a:srgbClr val="2B7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18%</a:t>
            </a:r>
          </a:p>
          <a:p>
            <a:r>
              <a:rPr sz="1050" b="1">
                <a:solidFill>
                  <a:srgbClr val="FFFFFF"/>
                </a:solidFill>
              </a:rPr>
              <a:t>YoY revenue growth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453640"/>
            <a:ext cx="1943100" cy="8230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16213F"/>
                </a:solidFill>
              </a:rPr>
              <a:t>92</a:t>
            </a:r>
          </a:p>
          <a:p>
            <a:r>
              <a:rPr sz="1050" b="1">
                <a:solidFill>
                  <a:srgbClr val="5778B0"/>
                </a:solidFill>
              </a:rPr>
              <a:t>Brand health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535680"/>
            <a:ext cx="1943100" cy="823000"/>
          </a:xfrm>
          <a:prstGeom prst="round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  <a:p>
            <a:r>
              <a:rPr sz="1050" b="1">
                <a:solidFill>
                  <a:srgbClr val="FFFFFF"/>
                </a:solidFill>
              </a:rPr>
              <a:t>Office formats audited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057400"/>
            <a:ext cx="91440" cy="342900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57400"/>
            <a:ext cx="7772400" cy="1143000"/>
          </a:xfrm>
        </p:spPr>
        <p:txBody>
          <a:bodyPr/>
          <a:lstStyle/>
          <a:p>
            <a:r>
              <a:rPr sz="3600" b="1">
                <a:solidFill>
                  <a:srgbClr val="16213F"/>
                </a:solidFill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429000"/>
            <a:ext cx="7772400" cy="2286000"/>
          </a:xfrm>
        </p:spPr>
        <p:txBody>
          <a:bodyPr anchor="t"/>
          <a:lstStyle/>
          <a:p>
            <a:pPr/>
            <a:r>
              <a:rPr sz="2000">
                <a:solidFill>
                  <a:srgbClr val="16213F"/>
                </a:solidFill>
              </a:rPr>
              <a:t>1. Overview</a:t>
            </a:r>
          </a:p>
          <a:p>
            <a:pPr/>
            <a:r>
              <a:rPr sz="2000">
                <a:solidFill>
                  <a:srgbClr val="16213F"/>
                </a:solidFill>
              </a:rPr>
              <a:t>2. Financials</a:t>
            </a:r>
          </a:p>
          <a:p>
            <a:pPr/>
            <a:r>
              <a:rPr sz="2000">
                <a:solidFill>
                  <a:srgbClr val="16213F"/>
                </a:solidFill>
              </a:rPr>
              <a:t>3. Closing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6213F"/>
                </a:solidFill>
              </a:rP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>
                <a:solidFill>
                  <a:srgbClr val="16213F"/>
                </a:solidFill>
              </a:rPr>
              <a:t>BrandDocs Corp grew net revenue 18% YoY across all three reported regions.</a:t>
            </a:r>
          </a:p>
          <a:p>
            <a:pPr/>
            <a:r>
              <a:rPr sz="1800">
                <a:solidFill>
                  <a:srgbClr val="16213F"/>
                </a:solidFill>
              </a:rPr>
              <a:t>Gross margin expanded 230 bps on supply-chain efficiencies.</a:t>
            </a:r>
          </a:p>
          <a:p>
            <a:pPr lvl="1"/>
            <a:r>
              <a:rPr sz="1800">
                <a:solidFill>
                  <a:srgbClr val="16213F"/>
                </a:solidFill>
              </a:rPr>
              <a:t>North region led growth; East rebounded after Q1 softness.</a:t>
            </a:r>
          </a:p>
          <a:p>
            <a:pPr/>
            <a:r>
              <a:rPr sz="1800">
                <a:solidFill>
                  <a:srgbClr val="16213F"/>
                </a:solidFill>
              </a:rPr>
              <a:t>FY2026 outlook raised on a stronger services pipeline.</a:t>
            </a:r>
          </a:p>
          <a:p>
            <a:pPr lvl="1"/>
            <a:r>
              <a:rPr sz="1800">
                <a:solidFill>
                  <a:srgbClr val="16213F"/>
                </a:solidFill>
              </a:rPr>
              <a:t>Key risk: input-cost volatility in the hardware segment.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6213F"/>
                </a:solidFill>
              </a:rPr>
              <a:t>Performance Snapshot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943100" cy="1005840"/>
          </a:xfrm>
          <a:prstGeom prst="round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$14.2M</a:t>
            </a:r>
          </a:p>
          <a:p>
            <a:r>
              <a:rPr sz="1050" b="1">
                <a:solidFill>
                  <a:srgbClr val="FFFFFF"/>
                </a:solidFill>
              </a:rPr>
              <a:t>FY net revenue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900" y="1371600"/>
            <a:ext cx="1943100" cy="1005840"/>
          </a:xfrm>
          <a:prstGeom prst="roundRect">
            <a:avLst/>
          </a:prstGeom>
          <a:solidFill>
            <a:srgbClr val="2B7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+230 bps</a:t>
            </a:r>
          </a:p>
          <a:p>
            <a:r>
              <a:rPr sz="1050" b="1">
                <a:solidFill>
                  <a:srgbClr val="FFFFFF"/>
                </a:solidFill>
              </a:rPr>
              <a:t>Gross margin lift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371600"/>
            <a:ext cx="1943100" cy="100584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16213F"/>
                </a:solidFill>
              </a:rPr>
              <a:t>86%</a:t>
            </a:r>
          </a:p>
          <a:p>
            <a:r>
              <a:rPr sz="1050" b="1">
                <a:solidFill>
                  <a:srgbClr val="5778B0"/>
                </a:solidFill>
              </a:rPr>
              <a:t>Workflow adoption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72300" y="1371600"/>
            <a:ext cx="1943100" cy="1005840"/>
          </a:xfrm>
          <a:prstGeom prst="round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  <a:p>
            <a:r>
              <a:rPr sz="1050" b="1">
                <a:solidFill>
                  <a:srgbClr val="FFFFFF"/>
                </a:solidFill>
              </a:rPr>
              <a:t>Priority risks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926080"/>
          <a:ext cx="54864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3017520"/>
            <a:ext cx="2286000" cy="2286000"/>
          </a:xfrm>
          <a:prstGeom prst="rect">
            <a:avLst/>
          </a:prstGeom>
          <a:noFill/>
        </p:spPr>
        <p:txBody>
          <a:bodyPr wrap="square" lIns="137160">
            <a:spAutoFit/>
          </a:bodyPr>
          <a:lstStyle/>
          <a:p>
            <a:r>
              <a:rPr b="1" sz="1600">
                <a:solidFill>
                  <a:srgbClr val="16213F"/>
                </a:solidFill>
              </a:rPr>
              <a:t>Primary signal</a:t>
            </a:r>
          </a:p>
          <a:p>
            <a:r>
              <a:rPr sz="1300">
                <a:solidFill>
                  <a:srgbClr val="5778B0"/>
                </a:solidFill>
              </a:rPr>
              <a:t>Outputs now carry visual proof artifacts, moving QA from spot-checking to repeatable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Regional Revenue (USD thousands)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Q3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Q4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North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320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351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372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410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South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East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168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232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705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747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812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907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Quarterly Net Revenue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828800"/>
          <a:ext cx="8229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Risk &amp; Readiness Heatmap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00200"/>
          <a:ext cx="7772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73152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Readiness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Renderer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Sandbox drift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E074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Run doctor before deep QA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Template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Stale field cache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Teal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Refresh generated indexes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Workbook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Formula loss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Navy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Diff formulas shell vs output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Deck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Native object loss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E074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Review component warnings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429000"/>
          </a:xfrm>
        </p:spPr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The BrandDocs Wordmark</a:t>
            </a:r>
          </a:p>
        </p:txBody>
      </p:sp>
      <p:pic>
        <p:nvPicPr>
          <p:cNvPr id="3" name="Picture Placeholder 2" descr="branddocs_template_wordmark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1828800" y="1371600"/>
            <a:ext cx="4754880" cy="118872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0" y="4114800"/>
          </a:xfrm>
        </p:spPr>
        <p:txBody>
          <a:bodyPr/>
          <a:lstStyle/>
          <a:p>
            <a:pPr/>
            <a:r>
              <a:rPr sz="1600">
                <a:solidFill>
                  <a:srgbClr val="16213F"/>
                </a:solidFill>
              </a:rPr>
              <a:t>A synthetic, generated logo - no proprietary asset.</a:t>
            </a:r>
          </a:p>
          <a:p>
            <a:pPr/>
            <a:r>
              <a:rPr sz="1600">
                <a:solidFill>
                  <a:srgbClr val="16213F"/>
                </a:solidFill>
              </a:rPr>
              <a:t>The logo is simply the BrandDocs name, with no icon or badge.</a:t>
            </a:r>
          </a:p>
        </p:txBody>
      </p:sp>
      <p:pic>
        <p:nvPicPr>
          <p:cNvPr id="5" name="Picture 4" descr="branddocs_template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48640"/>
            <a:ext cx="13716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Our Approach (SmartArt-style process)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743200"/>
            <a:ext cx="2286000" cy="1143000"/>
          </a:xfrm>
          <a:prstGeom prst="roundRect">
            <a:avLst/>
          </a:prstGeom>
          <a:solidFill>
            <a:srgbClr val="16213F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Validate the opportunity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743200"/>
            <a:ext cx="2286000" cy="1143000"/>
          </a:xfrm>
          <a:prstGeom prst="roundRect">
            <a:avLst/>
          </a:prstGeom>
          <a:solidFill>
            <a:srgbClr val="2B7CD3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Build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71800" y="3314700"/>
            <a:ext cx="457200" cy="0"/>
          </a:xfrm>
          <a:prstGeom prst="line">
            <a:avLst/>
          </a:prstGeom>
          <a:ln w="31750">
            <a:solidFill>
              <a:srgbClr val="5778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290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Ship the MVP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743200"/>
            <a:ext cx="2286000" cy="1143000"/>
          </a:xfrm>
          <a:prstGeom prst="roundRect">
            <a:avLst/>
          </a:prstGeom>
          <a:solidFill>
            <a:srgbClr val="E0742B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Scale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3314700"/>
            <a:ext cx="457200" cy="0"/>
          </a:xfrm>
          <a:prstGeom prst="line">
            <a:avLst/>
          </a:prstGeom>
          <a:ln w="31750">
            <a:solidFill>
              <a:srgbClr val="5778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722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Grow to new regions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"/>
            <a:ext cx="9144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057400"/>
            <a:ext cx="91440" cy="342900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57400"/>
            <a:ext cx="7772400" cy="1143000"/>
          </a:xfrm>
        </p:spPr>
        <p:txBody>
          <a:bodyPr/>
          <a:lstStyle/>
          <a:p>
            <a:r>
              <a:rPr sz="4000" b="1">
                <a:solidFill>
                  <a:srgbClr val="16213F"/>
                </a:solidFill>
              </a:rP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429000"/>
            <a:ext cx="7772400" cy="2286000"/>
          </a:xfrm>
        </p:spPr>
        <p:txBody>
          <a:bodyPr anchor="t"/>
          <a:lstStyle/>
          <a:p>
            <a:pPr/>
            <a:r>
              <a:rPr sz="1800">
                <a:solidFill>
                  <a:srgbClr val="16213F"/>
                </a:solidFill>
              </a:rPr>
              <a:t>Questions? hello@branddocs.example</a:t>
            </a:r>
          </a:p>
          <a:p>
            <a:pPr/>
            <a:r>
              <a:rPr sz="1800">
                <a:solidFill>
                  <a:srgbClr val="16213F"/>
                </a:solidFill>
              </a:rPr>
              <a:t>BrandDocs Corp - synthetic sample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BrandDocs Corp Quarterly Business Review</dc:title>
  <dc:subject>Synthetic test fixture - no proprietary content</dc:subject>
  <dc:creator>BrandDocs Corp (synthetic fixture)</dc:creator>
  <cp:keywords/>
  <dc:description>generated using python-pptx</dc:description>
  <cp:lastModifiedBy>BrandDocs Corp (synthetic fixture)</cp:lastModifiedBy>
  <cp:revision>1</cp:revision>
  <dcterms:created xsi:type="dcterms:W3CDTF">2026-06-05T00:00:00Z</dcterms:created>
  <dcterms:modified xsi:type="dcterms:W3CDTF">2026-06-05T00:00:00Z</dcterms:modified>
  <cp:category/>
</cp:coreProperties>
</file>