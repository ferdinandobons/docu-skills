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00000001-0000-4000-8000-000000000001}">
          <p14:sldIdLst>
            <p14:sldId id="256"/>
            <p14:sldId id="257"/>
            <p14:sldId id="258"/>
            <p14:sldId id="259"/>
          </p14:sldIdLst>
        </p14:section>
        <p14:section name="Financials" id="{00000002-0000-4000-8000-000000000002}">
          <p14:sldIdLst>
            <p14:sldId id="260"/>
            <p14:sldId id="261"/>
            <p14:sldId id="262"/>
            <p14:sldId id="263"/>
          </p14:sldIdLst>
        </p14:section>
        <p14:section name="Closing" id="{00000003-0000-4000-8000-000000000003}">
          <p14:sldIdLst>
            <p14:sldId id="264"/>
            <p14:sldId id="265"/>
            <p14:sldId id="266"/>
            <p14:sldId id="267"/>
            <p14:sldId id="26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t>Health and adoption trend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Brand health</c:v>
                </c:pt>
              </c:strCache>
            </c:strRef>
          </c:tx>
          <c:spPr>
            <a:ln w="28575">
              <a:solidFill>
                <a:srgbClr val="2B7CD3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78</c:v>
                </c:pt>
                <c:pt idx="2">
                  <c:v>81</c:v>
                </c:pt>
                <c:pt idx="3">
                  <c:v>84</c:v>
                </c:pt>
                <c:pt idx="4">
                  <c:v>88</c:v>
                </c:pt>
                <c:pt idx="5">
                  <c:v>92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Adoption</c:v>
                </c:pt>
              </c:strCache>
            </c:strRef>
          </c:tx>
          <c:spPr>
            <a:ln w="28575">
              <a:solidFill>
                <a:srgbClr val="E0742B"/>
              </a:solidFill>
            </a:ln>
          </c:spP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61</c:v>
                </c:pt>
                <c:pt idx="1">
                  <c:v>66</c:v>
                </c:pt>
                <c:pt idx="2">
                  <c:v>70</c:v>
                </c:pt>
                <c:pt idx="3">
                  <c:v>76</c:v>
                </c:pt>
                <c:pt idx="4">
                  <c:v>81</c:v>
                </c:pt>
                <c:pt idx="5">
                  <c:v>86</c:v>
                </c:pt>
              </c:numCache>
            </c:numRef>
          </c:val>
          <c:smooth val="0"/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6213F"/>
                  </a:solidFill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2118791784"/>
        <c:crosses val="autoZero"/>
      </c:valAx>
    </c:plotArea>
    <c:legend>
      <c:legendPos val="b"/>
      <c:layout/>
      <c:overlay val="0"/>
    </c:legend>
    <c:plotVisOnly val="1"/>
    <c:dispBlanksAs val="gap"/>
    <c:showDLblsOverMax val="0"/>
  </c:chart>
  <c:txPr>
    <a:bodyPr/>
    <a:lstStyle/>
    <a:p>
      <a:pPr>
        <a:defRPr sz="1100">
          <a:latin typeface="Arial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600" b="1">
                <a:solidFill>
                  <a:srgbClr val="16213F"/>
                </a:solidFill>
              </a:defRPr>
            </a:pPr>
            <a:r>
              <a:t>BrandDocs Corp - FY2026 Revenue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North</c:v>
                </c:pt>
              </c:strCache>
            </c:strRef>
          </c:tx>
          <c:spPr>
            <a:solidFill>
              <a:srgbClr val="16213F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351</c:v>
                </c:pt>
                <c:pt idx="2">
                  <c:v>372</c:v>
                </c:pt>
                <c:pt idx="3">
                  <c:v>410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South</c:v>
                </c:pt>
              </c:strCache>
            </c:strRef>
          </c:tx>
          <c:spPr>
            <a:solidFill>
              <a:srgbClr val="2B7CD3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210</c:v>
                </c:pt>
                <c:pt idx="1">
                  <c:v>228</c:v>
                </c:pt>
                <c:pt idx="2">
                  <c:v>241</c:v>
                </c:pt>
                <c:pt idx="3">
                  <c:v>265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East</c:v>
                </c:pt>
              </c:strCache>
            </c:strRef>
          </c:tx>
          <c:spPr>
            <a:solidFill>
              <a:srgbClr val="E0742B"/>
            </a:solidFill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175</c:v>
                </c:pt>
                <c:pt idx="1">
                  <c:v>168</c:v>
                </c:pt>
                <c:pt idx="2">
                  <c:v>199</c:v>
                </c:pt>
                <c:pt idx="3">
                  <c:v>232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900">
                  <a:solidFill>
                    <a:srgbClr val="16213F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>
          <c:spPr>
            <a:ln>
              <a:solidFill>
                <a:srgbClr val="EAF1FF"/>
              </a:solidFill>
            </a:ln>
          </c:spPr>
        </c:majorGridlines>
        <c:numFmt formatCode="0" sourceLinked="0"/>
        <c:majorTickMark val="out"/>
        <c:minorTickMark val="none"/>
        <c:tickLblPos val="nextTo"/>
        <c:txPr>
          <a:bodyPr/>
          <a:lstStyle/>
          <a:p>
            <a:pPr>
              <a:defRPr>
                <a:solidFill>
                  <a:srgbClr val="16213F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title>
      <c:tx>
        <c:rich>
          <a:bodyPr/>
          <a:lstStyle/>
          <a:p>
            <a:pPr>
              <a:defRPr sz="1600" b="1">
                <a:solidFill>
                  <a:srgbClr val="16213F"/>
                </a:solidFill>
              </a:defRPr>
            </a:pPr>
            <a:r>
              <a:t>Revenue mix by region</a:t>
            </a:r>
          </a:p>
        </c:rich>
      </c:tx>
      <c:layout/>
      <c:overlay val="0"/>
    </c:title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Revenue mix</c:v>
                </c:pt>
              </c:strCache>
            </c:strRef>
          </c:tx>
          <c:dPt>
            <c:idx val="0"/>
            <c:spPr>
              <a:solidFill>
                <a:srgbClr val="16213F"/>
              </a:solidFill>
            </c:spPr>
          </c:dPt>
          <c:dPt>
            <c:idx val="1"/>
            <c:spPr>
              <a:solidFill>
                <a:srgbClr val="2B7CD3"/>
              </a:solidFill>
            </c:spPr>
          </c:dPt>
          <c:dPt>
            <c:idx val="2"/>
            <c:spPr>
              <a:solidFill>
                <a:srgbClr val="E0742B"/>
              </a:solidFill>
            </c:spPr>
          </c:dPt>
          <c:dPt>
            <c:idx val="3"/>
            <c:spPr>
              <a:solidFill>
                <a:srgbClr val="5778B0"/>
              </a:solidFill>
            </c:spPr>
          </c:dPt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0.41</c:v>
                </c:pt>
                <c:pt idx="1">
                  <c:v>0.27</c:v>
                </c:pt>
                <c:pt idx="2">
                  <c:v>0.2</c:v>
                </c:pt>
                <c:pt idx="3">
                  <c:v>0.12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sz="1100" b="1">
                  <a:solidFill>
                    <a:srgbClr val="FFFFFF"/>
                  </a:solidFill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/>
      <c:layout/>
      <c:overlay val="0"/>
    </c:legend>
    <c:plotVisOnly val="1"/>
    <c:dispBlanksAs val="gap"/>
    <c:showDLblsOverMax val="0"/>
  </c:chart>
  <c:txPr>
    <a:bodyPr/>
    <a:lstStyle/>
    <a:p>
      <a:pPr>
        <a:defRPr sz="1800">
          <a:latin typeface="Arial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walk the three sections top to bottom; flag that the Financials block carries the revenue table, charts and the mix doughnut.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lead with the 18% YoY headline, then the 230 bps margin expansion. Pause on the input-cost risk before the regional breakdown.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anchor on the four headline KPIs, then read the line chart left to right - brand health and adoption both trend up through June.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merged title band names the entity and units; read the totals row last - Q4 at 907 is the strongest quarter.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North leads every quarter; East is the recovery story after the Q1 dip - point at the rebound from 168 to 232.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Readiness column colour-codes each area; call out the two amber rows (renderer, deck) as the items needing an owner this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the wordmark is generated, not a proprietary asset; the caption links to the brand guidelines for the full usage rules.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contrast the two columns; the After column is the payoff of authoring the palette and fonts at the theme level.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Speaker notes: close on the contact line; the address is a live mailto link, so a reader can reach the brand team straight from the deck.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chart" Target="../charts/chart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9.xml"/><Relationship Id="rId2" Type="http://schemas.openxmlformats.org/officeDocument/2006/relationships/image" Target="../media/image1.png"/><Relationship Id="rId3" Type="http://schemas.openxmlformats.org/officeDocument/2006/relationships/hyperlink" Target="https://example.com/brand" TargetMode="External"/><Relationship Id="rId4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mailto:hello@branddocs.example" TargetMode="Externa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8" name="Rectangle 7"/>
          <p:cNvSpPr/>
          <p:nvPr/>
        </p:nvSpPr>
        <p:spPr>
          <a:xfrm>
            <a:off x="685800" y="3200400"/>
            <a:ext cx="2286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37960" y="0"/>
            <a:ext cx="91440" cy="6858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29400" y="0"/>
            <a:ext cx="2514600" cy="6858000"/>
          </a:xfrm>
          <a:prstGeom prst="rect">
            <a:avLst/>
          </a:prstGeom>
          <a:solidFill>
            <a:schemeClr val="dk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chemeClr val="dk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80" y="2057400"/>
            <a:ext cx="5943600" cy="0"/>
          </a:xfrm>
        </p:spPr>
        <p:txBody>
          <a:bodyPr/>
          <a:lstStyle/>
          <a:p>
            <a:r>
              <a:rPr sz="4000" b="1">
                <a:solidFill>
                  <a:schemeClr val="dk1"/>
                </a:solidFill>
              </a:rPr>
              <a:t>BrandDocs Corp Quarterly Business Review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3429000"/>
            <a:ext cx="5486400" cy="0"/>
          </a:xfrm>
        </p:spPr>
        <p:txBody>
          <a:bodyPr/>
          <a:lstStyle/>
          <a:p>
            <a:r>
              <a:rPr sz="2000">
                <a:solidFill>
                  <a:srgbClr val="2B7CD3"/>
                </a:solidFill>
              </a:rPr>
              <a:t>FY2026 - Performance, Outlook &amp; Initiatives</a:t>
            </a:r>
          </a:p>
        </p:txBody>
      </p:sp>
      <p:pic>
        <p:nvPicPr>
          <p:cNvPr id="9" name="Picture 8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548640"/>
            <a:ext cx="1645920" cy="41148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903720" y="1371600"/>
            <a:ext cx="1943100" cy="823000"/>
          </a:xfrm>
          <a:prstGeom prst="round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18%</a:t>
            </a:r>
          </a:p>
          <a:p>
            <a:r>
              <a:rPr sz="1050" b="1">
                <a:solidFill>
                  <a:srgbClr val="FFFFFF"/>
                </a:solidFill>
              </a:rPr>
              <a:t>YoY revenue growth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03720" y="2453640"/>
            <a:ext cx="1943100" cy="82300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92</a:t>
            </a:r>
          </a:p>
          <a:p>
            <a:r>
              <a:rPr sz="1050" b="1">
                <a:solidFill>
                  <a:srgbClr val="5778B0"/>
                </a:solidFill>
              </a:rPr>
              <a:t>Brand health index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903720" y="3535680"/>
            <a:ext cx="1943100" cy="823000"/>
          </a:xfrm>
          <a:prstGeom prst="round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3</a:t>
            </a:r>
          </a:p>
          <a:p>
            <a:r>
              <a:rPr sz="1050" b="1">
                <a:solidFill>
                  <a:srgbClr val="FFFFFF"/>
                </a:solidFill>
              </a:rPr>
              <a:t>Office formats audited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3600" b="1">
                <a:solidFill>
                  <a:srgbClr val="16213F"/>
                </a:solidFill>
              </a:rPr>
              <a:t>Agenda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2000">
                <a:solidFill>
                  <a:srgbClr val="16213F"/>
                </a:solidFill>
              </a:rPr>
              <a:t>1. Overview</a:t>
            </a:r>
          </a:p>
          <a:p>
            <a:pPr/>
            <a:r>
              <a:rPr sz="2000">
                <a:solidFill>
                  <a:srgbClr val="16213F"/>
                </a:solidFill>
              </a:rPr>
              <a:t>2. Financials</a:t>
            </a:r>
          </a:p>
          <a:p>
            <a:pPr/>
            <a:r>
              <a:rPr sz="2000">
                <a:solidFill>
                  <a:srgbClr val="16213F"/>
                </a:solidFill>
              </a:rPr>
              <a:t>3. Closing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16213F"/>
                </a:solidFill>
              </a:rPr>
              <a:t>Executive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sz="1800">
                <a:solidFill>
                  <a:srgbClr val="16213F"/>
                </a:solidFill>
              </a:rPr>
              <a:t>BrandDocs Corp grew net revenue 18% YoY across all three reported regions.</a:t>
            </a:r>
          </a:p>
          <a:p>
            <a:pPr/>
            <a:r>
              <a:rPr sz="1800">
                <a:solidFill>
                  <a:srgbClr val="16213F"/>
                </a:solidFill>
              </a:rPr>
              <a:t>Gross margin expanded 230 bps on supply-chain efficiencies.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North region led growth; East rebounded after Q1 softness.</a:t>
            </a:r>
          </a:p>
          <a:p>
            <a:pPr/>
            <a:r>
              <a:rPr sz="1800">
                <a:solidFill>
                  <a:srgbClr val="16213F"/>
                </a:solidFill>
              </a:rPr>
              <a:t>FY2026 outlook raised on a stronger services pipeline.</a:t>
            </a:r>
          </a:p>
          <a:p>
            <a:pPr lvl="1"/>
            <a:r>
              <a:rPr sz="1800">
                <a:solidFill>
                  <a:srgbClr val="16213F"/>
                </a:solidFill>
              </a:rPr>
              <a:t>Key risk: input-cost volatility in the hardware segment.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000" b="1">
                <a:solidFill>
                  <a:srgbClr val="16213F"/>
                </a:solidFill>
              </a:rPr>
              <a:t>Performance Snapshot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1943100" cy="1005840"/>
          </a:xfrm>
          <a:prstGeom prst="round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$14.2M</a:t>
            </a:r>
          </a:p>
          <a:p>
            <a:r>
              <a:rPr sz="1050" b="1">
                <a:solidFill>
                  <a:srgbClr val="FFFFFF"/>
                </a:solidFill>
              </a:rPr>
              <a:t>FY net revenue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628900" y="1371600"/>
            <a:ext cx="1943100" cy="1005840"/>
          </a:xfrm>
          <a:prstGeom prst="roundRect">
            <a:avLst/>
          </a:prstGeom>
          <a:solidFill>
            <a:srgbClr val="2B7CD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+230 bps</a:t>
            </a:r>
          </a:p>
          <a:p>
            <a:r>
              <a:rPr sz="1050" b="1">
                <a:solidFill>
                  <a:srgbClr val="FFFFFF"/>
                </a:solidFill>
              </a:rPr>
              <a:t>Gross margin lift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800600" y="1371600"/>
            <a:ext cx="1943100" cy="1005840"/>
          </a:xfrm>
          <a:prstGeom prst="roundRect">
            <a:avLst/>
          </a:prstGeom>
          <a:solidFill>
            <a:srgbClr val="EA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16213F"/>
                </a:solidFill>
              </a:rPr>
              <a:t>86%</a:t>
            </a:r>
          </a:p>
          <a:p>
            <a:r>
              <a:rPr sz="1050" b="1">
                <a:solidFill>
                  <a:srgbClr val="5778B0"/>
                </a:solidFill>
              </a:rPr>
              <a:t>Workflow adoption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972300" y="1371600"/>
            <a:ext cx="1943100" cy="1005840"/>
          </a:xfrm>
          <a:prstGeom prst="round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 rIns="137160" tIns="91440" bIns="91440"/>
          <a:lstStyle/>
          <a:p>
            <a:pPr algn="ctr"/>
            <a:r>
              <a:rPr sz="2400" b="1">
                <a:solidFill>
                  <a:srgbClr val="FFFFFF"/>
                </a:solidFill>
              </a:rPr>
              <a:t>4</a:t>
            </a:r>
          </a:p>
          <a:p>
            <a:r>
              <a:rPr sz="1050" b="1">
                <a:solidFill>
                  <a:srgbClr val="FFFFFF"/>
                </a:solidFill>
              </a:rPr>
              <a:t>Priority risks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85800" y="2926080"/>
          <a:ext cx="54864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37960" y="3017520"/>
            <a:ext cx="2286000" cy="2286000"/>
          </a:xfrm>
          <a:prstGeom prst="rect">
            <a:avLst/>
          </a:prstGeom>
          <a:noFill/>
        </p:spPr>
        <p:txBody>
          <a:bodyPr wrap="square" lIns="137160">
            <a:spAutoFit/>
          </a:bodyPr>
          <a:lstStyle/>
          <a:p>
            <a:r>
              <a:rPr b="1" sz="1600">
                <a:solidFill>
                  <a:srgbClr val="16213F"/>
                </a:solidFill>
              </a:rPr>
              <a:t>Primary signal</a:t>
            </a:r>
          </a:p>
          <a:p>
            <a:r>
              <a:rPr sz="1300">
                <a:solidFill>
                  <a:srgbClr val="5778B0"/>
                </a:solidFill>
              </a:rPr>
              <a:t>Outputs now carry visual proof artifacts, moving QA from spot-checking to repeatable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Regional Revenue (USD thousands)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645920"/>
          <a:ext cx="822960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1645920"/>
                <a:gridCol w="1645920"/>
                <a:gridCol w="1645920"/>
                <a:gridCol w="1645920"/>
              </a:tblGrid>
              <a:tr h="487680">
                <a:tc gridSpan="5"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BrandDocs Corp - FY2026 (USD thousands)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Region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Q1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Q2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Q3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600">
                          <a:solidFill>
                            <a:srgbClr val="FFFFFF"/>
                          </a:solidFill>
                        </a:rPr>
                        <a:t>Q4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North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372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410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South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210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228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241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265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East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175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168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199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16213F"/>
                          </a:solidFill>
                        </a:rPr>
                        <a:t>232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Total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705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747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812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500">
                          <a:solidFill>
                            <a:srgbClr val="FFFFFF"/>
                          </a:solidFill>
                        </a:rPr>
                        <a:t>907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Quarterly Net Revenue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" y="1828800"/>
          <a:ext cx="82296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FY2026 Revenue Mix by Region</a:t>
            </a:r>
          </a:p>
        </p:txBody>
      </p:sp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1828800" y="18288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Risk &amp; Readiness Heatmap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85800" y="1600200"/>
          <a:ext cx="77724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43100"/>
                <a:gridCol w="1943100"/>
                <a:gridCol w="1943100"/>
                <a:gridCol w="1943100"/>
              </a:tblGrid>
              <a:tr h="731520"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Area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Signal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Readiness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300">
                          <a:solidFill>
                            <a:srgbClr val="FFFFFF"/>
                          </a:solidFill>
                        </a:rPr>
                        <a:t>Action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Renderer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Sandbox drift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Run doctor before deep QA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Template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Stale field cache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Teal</a:t>
                      </a:r>
                    </a:p>
                  </a:txBody>
                  <a:tcPr>
                    <a:solidFill>
                      <a:srgbClr val="2B7CD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Refresh generated indexes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Workbook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Formula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Navy</a:t>
                      </a:r>
                    </a:p>
                  </a:txBody>
                  <a:tcPr>
                    <a:solidFill>
                      <a:srgbClr val="16213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Diff formulas shell vs output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Deck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Native object loss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</a:rPr>
                        <a:t>Amber</a:t>
                      </a:r>
                    </a:p>
                  </a:txBody>
                  <a:tcPr>
                    <a:solidFill>
                      <a:srgbClr val="E0742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>
                          <a:solidFill>
                            <a:srgbClr val="16213F"/>
                          </a:solidFill>
                        </a:rPr>
                        <a:t>Review component warnings</a:t>
                      </a:r>
                    </a:p>
                  </a:txBody>
                  <a:tcPr>
                    <a:solidFill>
                      <a:srgbClr val="EAF1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3429000"/>
          </a:xfrm>
        </p:spPr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The BrandDocs Wordmark</a:t>
            </a:r>
          </a:p>
        </p:txBody>
      </p:sp>
      <p:pic>
        <p:nvPicPr>
          <p:cNvPr id="3" name="Picture Placeholder 2" descr="branddocs_template_wordmark.png"/>
          <p:cNvPicPr>
            <a:picLocks noGrp="1" noChangeAspect="1"/>
          </p:cNvPicPr>
          <p:nvPr>
            <p:ph type="pic" idx="1"/>
          </p:nvPr>
        </p:nvPicPr>
        <p:blipFill>
          <a:blip r:embed="rId2"/>
          <a:srcRect/>
          <a:stretch>
            <a:fillRect/>
          </a:stretch>
        </p:blipFill>
        <p:spPr>
          <a:xfrm>
            <a:off x="1828800" y="1371600"/>
            <a:ext cx="4754880" cy="1188720"/>
          </a:xfrm>
        </p:spPr>
      </p:pic>
      <p:sp>
        <p:nvSpPr>
          <p:cNvPr id="4" name="Text Placeholder 3"/>
          <p:cNvSpPr>
            <a:spLocks noGrp="1"/>
          </p:cNvSpPr>
          <p:nvPr>
            <p:ph type="body" idx="2" sz="half"/>
          </p:nvPr>
        </p:nvSpPr>
        <p:spPr>
          <a:xfrm>
            <a:off x="0" y="4114800"/>
          </a:xfrm>
        </p:spPr>
        <p:txBody>
          <a:bodyPr/>
          <a:lstStyle/>
          <a:p>
            <a:pPr/>
            <a:r>
              <a:rPr sz="1600">
                <a:solidFill>
                  <a:srgbClr val="16213F"/>
                </a:solidFill>
              </a:rPr>
              <a:t>A synthetic, generated logo - no proprietary asset.</a:t>
            </a:r>
          </a:p>
          <a:p>
            <a:pPr/>
            <a:r>
              <a:rPr sz="1600">
                <a:solidFill>
                  <a:srgbClr val="16213F"/>
                </a:solidFill>
              </a:rPr>
              <a:t>The logo is simply the BrandDocs name, with no icon or badge.</a:t>
            </a:r>
          </a:p>
          <a:p>
            <a:pPr/>
            <a:r>
              <a:rPr sz="1600">
                <a:solidFill>
                  <a:srgbClr val="16213F"/>
                </a:solidFill>
              </a:rPr>
              <a:t>Brand guidelines:</a:t>
            </a:r>
            <a:r>
              <a:rPr sz="1600">
                <a:hlinkClick r:id="rId3"/>
              </a:rPr>
              <a:t> example.com/brand</a:t>
            </a:r>
          </a:p>
        </p:txBody>
      </p:sp>
      <p:pic>
        <p:nvPicPr>
          <p:cNvPr id="5" name="Picture 4" descr="branddocs_template_wordm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548640"/>
            <a:ext cx="1371600" cy="342900"/>
          </a:xfrm>
          <a:prstGeom prst="rect">
            <a:avLst/>
          </a:prstGeom>
        </p:spPr>
      </p:pic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Before vs After Brand Consistency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sz="1800" b="1">
                <a:solidFill>
                  <a:srgbClr val="5778B0"/>
                </a:solidFill>
              </a:rPr>
              <a:t>Before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/>
            <a:r>
              <a:rPr sz="1500">
                <a:solidFill>
                  <a:srgbClr val="16213F"/>
                </a:solidFill>
              </a:rPr>
              <a:t>Every deck redrew the palette by hand.</a:t>
            </a:r>
          </a:p>
          <a:p>
            <a:pPr/>
            <a:r>
              <a:rPr sz="1500">
                <a:solidFill>
                  <a:srgbClr val="16213F"/>
                </a:solidFill>
              </a:rPr>
              <a:t>Fonts drifted slide to slide.</a:t>
            </a:r>
          </a:p>
          <a:p>
            <a:pPr/>
            <a:r>
              <a:rPr sz="1500">
                <a:solidFill>
                  <a:srgbClr val="16213F"/>
                </a:solidFill>
              </a:rPr>
              <a:t>No single source of brand truth.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800" b="1">
                <a:solidFill>
                  <a:srgbClr val="2B7CD3"/>
                </a:solidFill>
              </a:rPr>
              <a:t>After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/>
            <a:r>
              <a:rPr sz="1500">
                <a:solidFill>
                  <a:srgbClr val="16213F"/>
                </a:solidFill>
              </a:rPr>
              <a:t>One BrandDocs theme drives every surface.</a:t>
            </a:r>
          </a:p>
          <a:p>
            <a:pPr/>
            <a:r>
              <a:rPr sz="1500">
                <a:solidFill>
                  <a:srgbClr val="16213F"/>
                </a:solidFill>
              </a:rPr>
              <a:t>Arial headings, Calibri body, applied once.</a:t>
            </a:r>
          </a:p>
          <a:p>
            <a:pPr/>
            <a:r>
              <a:rPr sz="1500">
                <a:solidFill>
                  <a:srgbClr val="16213F"/>
                </a:solidFill>
              </a:rPr>
              <a:t>Outputs match the template by construction.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800" b="1">
                <a:solidFill>
                  <a:srgbClr val="16213F"/>
                </a:solidFill>
              </a:rPr>
              <a:t>Our Approach (SmartArt-style process)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685800" y="2743200"/>
            <a:ext cx="2286000" cy="1143000"/>
          </a:xfrm>
          <a:prstGeom prst="roundRect">
            <a:avLst/>
          </a:prstGeom>
          <a:solidFill>
            <a:srgbClr val="16213F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Discover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Validate the opportunity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429000" y="2743200"/>
            <a:ext cx="2286000" cy="1143000"/>
          </a:xfrm>
          <a:prstGeom prst="roundRect">
            <a:avLst/>
          </a:prstGeom>
          <a:solidFill>
            <a:srgbClr val="2B7CD3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Build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9718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34290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Ship the MVP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2743200"/>
            <a:ext cx="2286000" cy="1143000"/>
          </a:xfrm>
          <a:prstGeom prst="roundRect">
            <a:avLst/>
          </a:prstGeom>
          <a:solidFill>
            <a:srgbClr val="E0742B"/>
          </a:solidFill>
          <a:ln w="19050">
            <a:solidFill>
              <a:srgbClr val="5778B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2000" b="1">
                <a:solidFill>
                  <a:srgbClr val="FFFFFF"/>
                </a:solidFill>
              </a:rPr>
              <a:t>Scale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5715000" y="3314700"/>
            <a:ext cx="457200" cy="0"/>
          </a:xfrm>
          <a:prstGeom prst="line">
            <a:avLst/>
          </a:prstGeom>
          <a:ln w="31750">
            <a:solidFill>
              <a:srgbClr val="5778B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6172200" y="3977640"/>
            <a:ext cx="2286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>
                <a:solidFill>
                  <a:srgbClr val="5778B0"/>
                </a:solidFill>
              </a:rPr>
              <a:t>Grow to new regions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5" name="Rectangle 4"/>
          <p:cNvSpPr/>
          <p:nvPr/>
        </p:nvSpPr>
        <p:spPr>
          <a:xfrm>
            <a:off x="0" y="662940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228600"/>
            <a:ext cx="9144000" cy="4572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228600"/>
          </a:xfrm>
          <a:prstGeom prst="rect">
            <a:avLst/>
          </a:prstGeom>
          <a:solidFill>
            <a:srgbClr val="1621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Click to edit Master title style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" name="Rectangle 3"/>
          <p:cNvSpPr/>
          <p:nvPr/>
        </p:nvSpPr>
        <p:spPr>
          <a:xfrm>
            <a:off x="457200" y="2057400"/>
            <a:ext cx="91440" cy="3429000"/>
          </a:xfrm>
          <a:prstGeom prst="rect">
            <a:avLst/>
          </a:prstGeom>
          <a:solidFill>
            <a:srgbClr val="E074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2057400"/>
            <a:ext cx="7772400" cy="1143000"/>
          </a:xfrm>
        </p:spPr>
        <p:txBody>
          <a:bodyPr/>
          <a:lstStyle/>
          <a:p>
            <a:r>
              <a:rPr sz="4000" b="1">
                <a:solidFill>
                  <a:srgbClr val="16213F"/>
                </a:solidFill>
              </a:rPr>
              <a:t>Thank You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5800" y="3429000"/>
            <a:ext cx="7772400" cy="2286000"/>
          </a:xfrm>
        </p:spPr>
        <p:txBody>
          <a:bodyPr anchor="t"/>
          <a:lstStyle/>
          <a:p>
            <a:pPr/>
            <a:r>
              <a:rPr sz="1800">
                <a:solidFill>
                  <a:srgbClr val="16213F"/>
                </a:solidFill>
              </a:rPr>
              <a:t>Questions? </a:t>
            </a:r>
            <a:r>
              <a:rPr sz="1800">
                <a:hlinkClick r:id="rId2"/>
              </a:rPr>
              <a:t>hello@branddocs.example</a:t>
            </a:r>
          </a:p>
          <a:p>
            <a:pPr/>
            <a:r>
              <a:rPr sz="1800">
                <a:solidFill>
                  <a:srgbClr val="16213F"/>
                </a:solidFill>
              </a:rPr>
              <a:t>BrandDocs Corp - synthetic sample deck.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6213F"/>
      </a:dk1>
      <a:lt1>
        <a:srgbClr val="FFFFFF"/>
      </a:lt1>
      <a:dk2>
        <a:srgbClr val="2B7CD3"/>
      </a:dk2>
      <a:lt2>
        <a:srgbClr val="EAF1FF"/>
      </a:lt2>
      <a:accent1>
        <a:srgbClr val="2B7CD3"/>
      </a:accent1>
      <a:accent2>
        <a:srgbClr val="E0742B"/>
      </a:accent2>
      <a:accent3>
        <a:srgbClr val="DCE7FF"/>
      </a:accent3>
      <a:accent4>
        <a:srgbClr val="5778B0"/>
      </a:accent4>
      <a:accent5>
        <a:srgbClr val="1F3A6B"/>
      </a:accent5>
      <a:accent6>
        <a:srgbClr val="8FA9D8"/>
      </a:accent6>
      <a:hlink>
        <a:srgbClr val="2B7CD3"/>
      </a:hlink>
      <a:folHlink>
        <a:srgbClr val="16213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BrandDocs Corp Quarterly Business Review</dc:title>
  <dc:subject>Synthetic test fixture - no proprietary content</dc:subject>
  <dc:creator>BrandDocs Corp (synthetic fixture)</dc:creator>
  <cp:keywords/>
  <dc:description>generated using python-pptx</dc:description>
  <cp:lastModifiedBy>BrandDocs Corp (synthetic fixture)</cp:lastModifiedBy>
  <cp:revision>1</cp:revision>
  <dcterms:created xsi:type="dcterms:W3CDTF">2026-06-05T00:00:00Z</dcterms:created>
  <dcterms:modified xsi:type="dcterms:W3CDTF">2026-06-05T00:00:00Z</dcterms:modified>
  <cp:category/>
</cp:coreProperties>
</file>